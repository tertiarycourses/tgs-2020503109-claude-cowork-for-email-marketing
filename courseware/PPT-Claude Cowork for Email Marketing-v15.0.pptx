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index</c:v>
                </c:pt>
              </c:strCache>
            </c:strRef>
          </c:tx>
          <c:spPr>
            <a:solidFill>
              <a:srgbClr val="D9775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Attract</c:v>
                </c:pt>
                <c:pt idx="1">
                  <c:v>Nurture</c:v>
                </c:pt>
                <c:pt idx="2">
                  <c:v>Convert</c:v>
                </c:pt>
                <c:pt idx="3">
                  <c:v>Retain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46</c:v>
                </c:pt>
                <c:pt idx="2">
                  <c:v>68</c:v>
                </c:pt>
                <c:pt idx="3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D9775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Goal</c:v>
                </c:pt>
                <c:pt idx="1">
                  <c:v>Audience</c:v>
                </c:pt>
                <c:pt idx="2">
                  <c:v>Offer</c:v>
                </c:pt>
                <c:pt idx="3">
                  <c:v>Guardrails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55</c:v>
                </c:pt>
                <c:pt idx="2">
                  <c:v>79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human</c:v>
                </c:pt>
              </c:strCache>
            </c:strRef>
          </c:tx>
          <c:spPr>
            <a:solidFill>
              <a:srgbClr val="D9775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Draft</c:v>
                </c:pt>
                <c:pt idx="2">
                  <c:v>Schedule</c:v>
                </c:pt>
                <c:pt idx="3">
                  <c:v>Send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78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index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</c:v>
                </c:pt>
                <c:pt idx="1">
                  <c:v>Status</c:v>
                </c:pt>
                <c:pt idx="2">
                  <c:v>Interest</c:v>
                </c:pt>
                <c:pt idx="3">
                  <c:v>Lifecycle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53</c:v>
                </c:pt>
                <c:pt idx="2">
                  <c:v>74</c:v>
                </c:pt>
                <c:pt idx="3">
                  <c:v>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delivered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Deduped</c:v>
                </c:pt>
                <c:pt idx="2">
                  <c:v>Suppressed</c:v>
                </c:pt>
                <c:pt idx="3">
                  <c:v>Validated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74</c:v>
                </c:pt>
                <c:pt idx="2">
                  <c:v>86</c:v>
                </c:pt>
                <c:pt idx="3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index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Full export</c:v>
                </c:pt>
                <c:pt idx="1">
                  <c:v>Scoped</c:v>
                </c:pt>
                <c:pt idx="2">
                  <c:v>Masked</c:v>
                </c:pt>
                <c:pt idx="3">
                  <c:v>Aggregate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58</c:v>
                </c:pt>
                <c:pt idx="2">
                  <c:v>27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consistent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Prompt</c:v>
                </c:pt>
                <c:pt idx="1">
                  <c:v>Schema</c:v>
                </c:pt>
                <c:pt idx="2">
                  <c:v>Rubric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66</c:v>
                </c:pt>
                <c:pt idx="2">
                  <c:v>85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traceable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Sources</c:v>
                </c:pt>
                <c:pt idx="2">
                  <c:v>Claim map</c:v>
                </c:pt>
                <c:pt idx="3">
                  <c:v>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69</c:v>
                </c:pt>
                <c:pt idx="2">
                  <c:v>88</c:v>
                </c:pt>
                <c:pt idx="3">
                  <c:v>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focus index</c:v>
                </c:pt>
              </c:strCache>
            </c:strRef>
          </c:tx>
          <c:spPr>
            <a:solidFill>
              <a:srgbClr val="3A7D7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71</c:v>
                </c:pt>
                <c:pt idx="2">
                  <c:v>49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controlled</c:v>
                </c:pt>
              </c:strCache>
            </c:strRef>
          </c:tx>
          <c:spPr>
            <a:solidFill>
              <a:srgbClr val="C88A2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Hash</c:v>
                </c:pt>
                <c:pt idx="2">
                  <c:v>Approval</c:v>
                </c:pt>
                <c:pt idx="3">
                  <c:v>Ledger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64</c:v>
                </c:pt>
                <c:pt idx="2">
                  <c:v>86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index</c:v>
                </c:pt>
              </c:strCache>
            </c:strRef>
          </c:tx>
          <c:spPr>
            <a:solidFill>
              <a:srgbClr val="C88A2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Blind retry</c:v>
                </c:pt>
                <c:pt idx="1">
                  <c:v>Run key</c:v>
                </c:pt>
                <c:pt idx="2">
                  <c:v>Reconcile</c:v>
                </c:pt>
                <c:pt idx="3">
                  <c:v>Terminal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43</c:v>
                </c:pt>
                <c:pt idx="2">
                  <c:v>17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review index</c:v>
                </c:pt>
              </c:strCache>
            </c:strRef>
          </c:tx>
          <c:spPr>
            <a:solidFill>
              <a:srgbClr val="C88A2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Read file</c:v>
                </c:pt>
                <c:pt idx="1">
                  <c:v>Search</c:v>
                </c:pt>
                <c:pt idx="2">
                  <c:v>Draft</c:v>
                </c:pt>
                <c:pt idx="3">
                  <c:v>Send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34</c:v>
                </c:pt>
                <c:pt idx="2">
                  <c:v>61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sent</c:v>
                </c:pt>
              </c:strCache>
            </c:strRef>
          </c:tx>
          <c:spPr>
            <a:solidFill>
              <a:srgbClr val="B5483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Sent</c:v>
                </c:pt>
                <c:pt idx="1">
                  <c:v>Delivered</c:v>
                </c:pt>
                <c:pt idx="2">
                  <c:v>Clicked</c:v>
                </c:pt>
                <c:pt idx="3">
                  <c:v>Converted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96</c:v>
                </c:pt>
                <c:pt idx="2">
                  <c:v>18</c:v>
                </c:pt>
                <c:pt idx="3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reliable</c:v>
                </c:pt>
              </c:strCache>
            </c:strRef>
          </c:tx>
          <c:spPr>
            <a:solidFill>
              <a:srgbClr val="B5483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Number</c:v>
                </c:pt>
                <c:pt idx="1">
                  <c:v>Denominator</c:v>
                </c:pt>
                <c:pt idx="2">
                  <c:v>Window</c:v>
                </c:pt>
                <c:pt idx="3">
                  <c:v>Decision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59</c:v>
                </c:pt>
                <c:pt idx="2">
                  <c:v>78</c:v>
                </c:pt>
                <c:pt idx="3">
                  <c:v>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index</c:v>
                </c:pt>
              </c:strCache>
            </c:strRef>
          </c:tx>
          <c:spPr>
            <a:solidFill>
              <a:srgbClr val="B5483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Subject</c:v>
                </c:pt>
                <c:pt idx="1">
                  <c:v>Segment</c:v>
                </c:pt>
                <c:pt idx="2">
                  <c:v>Offer</c:v>
                </c:pt>
                <c:pt idx="3">
                  <c:v>Journey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68</c:v>
                </c:pt>
                <c:pt idx="2">
                  <c:v>83</c:v>
                </c:pt>
                <c:pt idx="3">
                  <c:v>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5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https://support.claude.com/en/collections/19667525-claude-cowork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https://support.claude.com/en/collections/19667525-claude-cowork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https://www.tertiarycourses.com.sg/wsq-claude-cowork-for-email-marketing.html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chart" Target="../charts/char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chart" Target="../charts/chart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chart" Target="../charts/char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chart" Target="../charts/char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Relationship Id="rId3" Type="http://schemas.openxmlformats.org/officeDocument/2006/relationships/chart" Target="../charts/char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Relationship Id="rId3" Type="http://schemas.openxmlformats.org/officeDocument/2006/relationships/chart" Target="../charts/chart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chart" Target="../charts/chart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4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Relationship Id="rId3" Type="http://schemas.openxmlformats.org/officeDocument/2006/relationships/chart" Target="../charts/chart1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Relationship Id="rId3" Type="http://schemas.openxmlformats.org/officeDocument/2006/relationships/chart" Target="../charts/chart1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Relationship Id="rId3" Type="http://schemas.openxmlformats.org/officeDocument/2006/relationships/chart" Target="../charts/chart1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4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Relationship Id="rId3" Type="http://schemas.openxmlformats.org/officeDocument/2006/relationships/chart" Target="../charts/chart1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Relationship Id="rId3" Type="http://schemas.openxmlformats.org/officeDocument/2006/relationships/chart" Target="../charts/chart14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Relationship Id="rId3" Type="http://schemas.openxmlformats.org/officeDocument/2006/relationships/chart" Target="../charts/chart1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WSQ COURSE  •  TGS-2020503109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Claude Cowork for Email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15.0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Digital attendance via TRAQOM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Complete the attendance action before technical work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Scan the trainer-provided QR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Confirm the correct course code and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Use your registered learner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Show the confirmation screen if requested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Trainer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Your trainer facilitates evidence-led email strategy, content and governed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Integrated marketing and customer journeys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Email content, segmentation and lifecycle campaigns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Claude Cowork, Skills and connector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Campaign analytics and assessment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Doctorate-level 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AI, data, cloud and automation curriculum leadership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Industry-oriented assessment and implementation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Focus: explainable, governed technical outcomes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Connect your role to one measurable email marketing opportunity.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Role and organisation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Target customer or community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Current campaign objective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One metric you need to improve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Use governed experimentation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Use synthetic or approved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Never paste live secrets into prompts or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Keep consequential actions behind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Challenge completion claims with observable evidence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Course facts and competency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TSC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ICT-SNM-3006-1.1 Integrated Marketing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Course code: TGS-2020503109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Duration: 2 days / 16 training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Assessment: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Version: v14.0 / 10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Strategy, audience governance and grounded campaign creation.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Topic 1: objectives, lifecycle, lead magnets and Cowork briefs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Topic 2: data quality, consent, segments and personalisation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Topic 3: content architecture, brand rules and Custom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Labs 01–06: brief through reusable Skill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Connector automation, approval controls and evidence-led optimisation.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Topic 4: projects, connectors, MCP, security and scheduling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Topic 5: metrics, funnels, A/B tests and optimisation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Labs 07–10: controlled release through experiment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Assessment follows the instructional programme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At course completion, you can plan, create, automate and evaluate a governed Cowork-assisted email campaign.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LO1 Propose email marketing strategies to address intended objectives and target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LO2 Manage newsletter audiences for a particular market segment.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LO3 Develop effective email campaigns to meet an email campaign objective.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LO4 Automate marketing processes to improve efficiency.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56631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5266944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02936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LO5 Evaluate campaign effectiveness using analytics reports.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Briefing for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Assessment evidence must show your own marketing decisions and a functioning campaign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Read every question and task before starting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Use the supplied synthetic case and lab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Show requested briefs, campaign assets and metric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Do not send to a live audience during assessment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Assessment and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Assessment is competence-based; course funding depends on current eligibility and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Active Written Assessment: 40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Active Practical Performance: 90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Course page summarises the assessment as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Check the current official course page before enrolment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The assessor evaluates knowledge, campaign performance and evidence-led optimisation.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Identity and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WA: 6 questions / K1–K6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PP: 5 tasks / A1–A8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Outcome and follow-up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Download course materials from the 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Use the visual route below to obtain the current slides, Learner Guide and ten self-contained labs.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1  Open the LMS course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2  Confirm title, code and v14.0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3  Download learner materials and labs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4  Open each lab README/PDF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769864"/>
            <a:ext cx="8915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  <a:hlinkClick r:id="rId3"/>
              </a:rPr>
              <a:t>https://lms-tms.tertiaryinfotech.com/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Cambria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mbria"/>
              </a:rPr>
              <a:t>Email Marketing Strategy and Campaign Planning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Translate business objectives and customer evidence into a consent-aware lifecycle campaign brief that Claude Cowork can execute and a marketer can verify.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7D7B"/>
                </a:solidFill>
                <a:latin typeface="Cambria"/>
              </a:rPr>
              <a:t>Every campaign action remains grounded, reviewable and measurable.</a:t>
            </a:r>
          </a:p>
        </p:txBody>
      </p:sp>
    </p:spTree>
  </p:cSld>
  <p:transition spd="med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as an owned relationship channel: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Earn consent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Deliver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Observe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Deepen relationship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permission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promise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next_value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large list is treated as an asset even when consent or relevance is weak.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as an owned relationship channel: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Value the address only when permission, purpose and retention remain traceable.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as an owned relationship channel: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Permission, reach, conversion and lifetime-value 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Channel comparison and consent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Objective-to-metric hierarchy: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State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Choose behaviour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KPI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Set guardrail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business_goal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behaviour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primary_kpi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guardrail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Open rate becomes the objective although it does not prove business value.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Objective-to-metric hierarchy: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Connect campaign activity to a customer action and business outcome.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Objective-to-metric hierarchy: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One primary KPI with counter-metrics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Objective tree with metric definitions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Lifecycle and drip architecture: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Map stage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trigger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Deliver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Advance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message_job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exit_rule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Everyone receives the same sequence regardless of readiness.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Lifecycle and drip architecture: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Give every email one job, entry rule and exit condition.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Lifecycle and drip architecture: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Progression and drop-off by lifecycle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Lifecycle map and suppression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Lead magnet value exchange: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Find tension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Offer utility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Request minimum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Fulfil promise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pain_point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asset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delivery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The incentive attracts freebie seekers or collects unnecessary personal data.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Lead magnet value exchange: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Match the asset to an immediate audience problem and ask only for needed fields.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Lead magnet value exchange: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Qualified opt-in and downstream 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Lead-magnet hypothesis and consent copy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Claude Cowork task model: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Grant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State outcome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Observe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Review artifact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instructions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tool_actions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deliverable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chat answer is mistaken for a completed, reviewed campaign asset.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Claude Cowork task model: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Delegate an artifact-producing task with boundaries and verification.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Claude Cowork task model: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tasks whose artifacts meet the declared acceptance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Task record, artifact and review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Campaign brief as control plane: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Load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Resolve audience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offer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Declare constraints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constraints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Claude fills missing strategy with plausible assumptions.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Campaign brief as control plane: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Require explicit unknowns, sources and an approval owner.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Campaign brief as control plane: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required brief fields complete before drafting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Validated campaign brief and assumption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Channel and platform selection: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List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Score options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connector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The best-known platform is selected without workflow or compliance fit.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Channel and platform selection: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Score the channel and execution platform against the campaign contract.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Channel and platform selection: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Weighted fit across capability, cost, control and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Platform decision matrix with rejected alternatives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Compliance and trust boundaries: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Capture consent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Limit purpose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Protect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Honour exit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consent_at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unsubscribe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An agent drafts or sends from unverified, scraped or suppressed data.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Compliance and trust boundaries: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Block activation when consent, identity or unsubscribe state is uncertain.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Compliance and trust boundaries: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records with auditable consent and suppression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Consent ledger and pre-send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Strategy boundary: business, customer and permission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D97757"/>
                </a:solidFill>
                <a:latin typeface="Cambria"/>
              </a:rP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Define outcome
and guardrails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A7D7B"/>
                </a:solidFill>
                <a:latin typeface="Cambria"/>
              </a:rP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Exchange consent
for relevant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88A2E"/>
                </a:solidFill>
                <a:latin typeface="Cambria"/>
              </a:rPr>
              <a:t>MARKETER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Select journey
and evidence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Campaign state: ATTRACT, NURTURE, CONVERT and RETAIN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ATTRACT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NURTURE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88A2E"/>
                </a:solidFill>
                <a:latin typeface="Cambria"/>
              </a:rPr>
              <a:t>CONVERT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A7D7B"/>
                </a:solidFill>
                <a:latin typeface="Cambria"/>
              </a:rPr>
              <a:t>RETAIN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 lifecycle advances only when the customer action satisfies the declared exit rule.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Strategy evidence chain: objective → audience → offer →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business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segment_id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intended audience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offer_id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value exchange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metric_id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decision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Strategy is defensible when objective, audience, offer and metric remain linked.</a:t>
            </a:r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Risk taxonomy: consent, promise, relevance and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B5483A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CONSENT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stop when permission is uncertain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3A7D7B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PROMISE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align offer, subject and body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88A2E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RELEVANCE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narrow audience or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MEASUREMENT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define outcome and guardrail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Lifecycle value compounds after the first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Email earns value across a relationship, not only at first conversion.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 complete brief reduces unsupported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A complete brief constrains Claude before drafting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Human ownership rises with campaign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Sending remains a consequential human-owned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01 · Build a Grounded Campaign Strategy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Use Claude Cowork with supplied brand and market evidence to propose a consent-aware email strategy for Northstar Fitness.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Validated strategy brief, channel matrix and assumption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labs/lab-01-campaign-strategy-brief/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01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Open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Read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Frame objective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Score channel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Set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Review brief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One primary objective, audience, value exchange, metrics, guardrails and source-backed assumptions are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02 · Design a Lead Magnet and Drip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Turn a customer tension into a credible lead magnet and five-state lifecycle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Lifecycle map, lead-magnet proposition and consent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labs/lab-02-lead-magnet-lifecycle/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02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Find 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Define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Minimise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Map stages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Set exits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Approve promise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The promise matches the source evidence, consent is explicit and every lifecycle state has entry and exit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1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1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Cambria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mbria"/>
              </a:rPr>
              <a:t>Audience Management, Segmentation and Personalisation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Create a clean, consent-aware audience model and use meaningful segment evidence to personalise messages without exposing sensitive customer data.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7D7B"/>
                </a:solidFill>
                <a:latin typeface="Cambria"/>
              </a:rPr>
              <a:t>Every campaign action remains grounded, reviewable and measurable.</a:t>
            </a:r>
          </a:p>
        </p:txBody>
      </p:sp>
    </p:spTree>
  </p:cSld>
  <p:transition spd="med">
    <p:push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Audience data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Collect 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Validate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Assign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definition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allowed_value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field exists but its source, freshness or meaning is unknown.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Audience data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Maintain a minimal dictionary and reject ungoverned attributes.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Audience data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audience fields with definition, source and lawful purpose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Audience schema and data-quality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Contact status lifecycle: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Subscribe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Engage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Suppress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Archive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changed_at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reason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Unsubscribed, bounced or archived contacts re-enter an active segment.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Contact status lifecycle: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a single authoritative suppression state before every release.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Contact status lifecycle: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Status transitions with no prohibited sends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Status transition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Bounce and deliverability logic: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Attempt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Classify bounce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Update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Protect sender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smtp_result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bounce_type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retry_rule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suppression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Repeated sends to permanent failures damage sender reputation.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Bounce and deliverability logic: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Retry temporary failures selectively and suppress permanent failures promptly.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Bounce and deliverability logic: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Delivery rate, hard-bounce rate and complaint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Bounce decision table and list-health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Segmentation model: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AUDIENCE DECISION SURFACE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Use declared audience evidence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A7D7B"/>
                </a:solidFill>
                <a:latin typeface="Calibri"/>
              </a:rP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Express a reproducible segment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Check members and exclusions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8A2E"/>
                </a:solidFill>
                <a:latin typeface="Calibri"/>
              </a:rPr>
              <a:t>ACTIVATE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Apply a safe fallback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udience-segmentation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6B6862"/>
                </a:solidFill>
                <a:latin typeface="Calibri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Segmentation model: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Version the rule, evaluation date and member count.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Segmentation model: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Segment size, stability and response lift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Segment manifest and sampled members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Tags, groups and computed segments: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Apply 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Capture preference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Combine conditions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Resolve overlap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priority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Operational tags are confused with customer-declared preferences.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Tags, groups and computed segments: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69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Separate marketer metadata, subscriber choices and computed eligibility.</a:t>
            </a:r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Tags, groups and computed segments: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contacts assigned consistently across constructs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Audience taxonomy and overlap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Persona and journey evidence: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Aggregate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Describe need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Map barrier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Choose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job_to_be_done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content_job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stereotype is generated and used as if it were research.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Persona and journey evidence: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Label inferred claims and test them against behavioural data.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Persona and journey evidence: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Persona claims supported by actual audience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Evidence-backed persona 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Personalisation hierarchy: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Insert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Adapt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offer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Time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moment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Sensitive or incorrect attributes produce intrusive content.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Personalisation hierarchy: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the least sensitive signal that improves relevance and provide fallbacks.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Personalisation hierarchy: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Incremental response lift without complaint increase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Personalisation matrix and fallback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Privacy-preserving Cowork workflow: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Minimise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Mask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Analyse sample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Return aggregate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minimum_fields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pseudonym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aggregate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Raw subscriber data is copied into prompts or broad folders.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Privacy-preserving Cowork workflow: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Grant the narrowest folder/tool scope and use synthetic data in training.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Privacy-preserving Cowork workflow: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tasks completed without unnecessary personal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Access scope, masked dataset and review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Audience boundary: source, status and lawful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D97757"/>
                </a:solidFill>
                <a:latin typeface="Cambria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Capture consent
and field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A7D7B"/>
                </a:solidFill>
                <a:latin typeface="Cambria"/>
              </a:rP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Apply a clear
reproducible rule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88A2E"/>
                </a:solidFill>
                <a:latin typeface="Cambria"/>
              </a:rPr>
              <a:t>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Personalise with
a safe fallback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Contact state: SUBSCRIBED, ENGAGED, SUPPRESSED and ARCHIVED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SUBSCRIBED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ENGAGED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B5483A"/>
                </a:solidFill>
                <a:latin typeface="Cambria"/>
              </a:rPr>
              <a:t>SUPPRESSED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6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6B6862"/>
                </a:solidFill>
                <a:latin typeface="Cambria"/>
              </a:rPr>
              <a:t>ARCHIVED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Suppression is an authoritative state, not a segment preference.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Segment evidence chain: field → rule → cohort →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field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send eligibility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rule_id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segment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cohort_id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resolved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Audience action is explainable when provenance, status, rule and cohort resolve.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Data taxonomy: identity, preference, behaviour and 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B5483A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IDENTITY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minimise and protect direct identifiers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3A7D7B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PREFERENCE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preserve customer-declared choices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88A2E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BEHAVIOUR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use observable signals cautiously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SUPPRESSION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exclude before activation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Segmentation improves relevance when rules stay clear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Segmentation creates value only when rules are meaningful and 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List hygiene protects deliverability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Suppression and validation protect both recipients and sender reputation.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Data exposure falls with minimisation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Use the smallest audience dataset that can answer the task.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03 · Audit and Repair an Audience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Use synthetic subscriber data to identify consent, status, duplicate and quality defects before segmentation.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Cleaned CSV, data-quality report and suppression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labs/lab-03-audience-data-quality/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03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Read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Profile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Find defects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Apply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Reconcile 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Export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03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All rows reconcile to kept, suppressed or review states; no personal data leaves the lab folder.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04 · Create Explainable Segments and Personalisation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Create reproducible audience segments and a safe personalisation matrix from the cleaned mock audience.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Segment manifest, member preview and fallback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labs/lab-04-segment-personalisation/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04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Choose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Write 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Preview cohort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Check overlap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Set fallback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Approve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04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Rules reproduce member counts, suppressed contacts are excluded and sensitive attributes are not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2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2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Cambria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mbria"/>
              </a:rPr>
              <a:t>Creating Email Content and Campaigns with Custom Claude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Turn a campaign brief and brand system into useful, accessible email variants, then package a proven workflow as a reusable Claude Skill.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7D7B"/>
                </a:solidFill>
                <a:latin typeface="Cambria"/>
              </a:rPr>
              <a:t>Every campaign action remains grounded, reviewable and measurable.</a:t>
            </a:r>
          </a:p>
        </p:txBody>
      </p:sp>
    </p:spTree>
  </p:cSld>
  <p:transition spd="med">
    <p:push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Message architecture: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Open 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Build relevance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Prove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Ask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subject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Several competing CTAs dilute the intended behaviour.</a:t>
            </a:r>
          </a:p>
        </p:txBody>
      </p:sp>
    </p:spTree>
  </p:cSld>
  <p:transition spd="med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Message architecture: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Give every message one primary action and a coherent evidence path.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Message architecture: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Message clarity and single-action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Annotated message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Subject line and preview pair: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99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State benefit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Create specificity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Add 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integrity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specificity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body_match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Curiosity wording overpromises what the body delivers.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Subject line and preview pair: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Evaluate the subject and preview as one promise against the body.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Subject line and preview pair: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Unique open proxy plus downstream click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Variant table with promise-integrity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Brand voice as constraints: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traits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Show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Mark exclusions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Score draft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traits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avoid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rubric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Abstract adjectives give Claude no observable writing behaviour.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Brand voice as constraints: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Translate voice into word choice, rhythm, proof and prohibited patterns.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Brand voice as constraints: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drafts passing brand rubric without manual rewrite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Brand rubric and scored 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Content types across the lifecycle: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Choose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Set message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promotion is sent when the customer needs onboarding or support.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Content types across the lifecycle: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Match welcome, nurture, launch, transactional and re-engagement content to stage.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Content types across the lifecycle: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Content-to-stage fit and action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Lifecycle content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Email layout and accessibility: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Establish hierarchy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Design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Add alternatives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Test rendering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heading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width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alt_text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Image-only content or weak contrast blocks comprehension.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Email layout and accessibility: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semantic structure, descriptive links and a resilient text path.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Email layout and accessibility: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critical content readable without images and on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Accessibility and rendering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Grounded drafting with Cowork: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Read approved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Draft to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Cite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Flag unknowns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output_schema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claim_map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unknowns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Claude invents product facts, testimonials or deadlines.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Grounded drafting with Cowork: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Constrain drafting to approved evidence and require an assumption log.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Grounded drafting with Cowork: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factual claims traceable to approved source material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Draft, source map and unresolved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Custom Skill anatomy: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REUSABLE SKILL CONTRACT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Recognise the intended task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Load approved brand resources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A7D7B"/>
                </a:solidFill>
                <a:latin typeface="Calibri"/>
              </a:rP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Return a stable output schema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8A2E"/>
                </a:solidFill>
                <a:latin typeface="Calibri"/>
              </a:rPr>
              <a:t>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Score quality before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ustom-skill-editorial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6B6862"/>
                </a:solidFill>
                <a:latin typeface="Calibri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Custom Skill anatomy: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Specify positive and near-miss triggers, inputs, outputs and quality gates.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Custom Skill anatomy: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representative tasks that activate and pass the skill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Skill package and activation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Editorial quality gate: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brand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Approve 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objective_fit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brand_score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risk_scan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approver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Fluent copy bypasses factual, consent or legal review.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Editorial quality gate: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Separate creative assessment from deterministic release conditions.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Editorial quality gate: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releases passing all gates before platform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Editorial scorecard and named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Editorial boundary: source, brand and accountable approver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D97757"/>
                </a:solidFill>
                <a:latin typeface="Cambria"/>
              </a:rPr>
              <a:t>COWORK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Draft from
approved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A7D7B"/>
                </a:solidFill>
                <a:latin typeface="Cambria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Apply reusable
brand and QA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88A2E"/>
                </a:solidFill>
                <a:latin typeface="Cambria"/>
              </a:rPr>
              <a:t>APPROVER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Own claims
and release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Content state: BRIEFED, DRAFTED, CHECKED and APPROVED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BRIEFED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DRAFTED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88A2E"/>
                </a:solidFill>
                <a:latin typeface="Cambria"/>
              </a:rPr>
              <a:t>CHECKED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Approval requires a grounded draft and a passed quality gate.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Skill evidence chain: trigger → context → draft →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brief_id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approved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source_map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claim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skill_version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reusable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approval_id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human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 reusable Skill connects approved context, source evidence, rules and approval.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Quality taxonomy: claim, voice, accessibility and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B5483A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CLAIM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ground or remove unsupported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3A7D7B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apply observable brand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88A2E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ACCESS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preserve a resilient text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focus on one primary CTA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Skill consistency improves with explicit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Reusable Skills combine a precise trigger, resources, schema and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Grounding raises claim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A source map separates grounded claims from fluent invention.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Competing calls to action reduce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One primary action makes the email easier to understand and measure.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05 · Draft Grounded Email 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Create welcome and launch email variants from a campaign brief, product facts and brand rubric.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Two complete email variants, claim map and editorial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labs/lab-05-grounded-email-variants/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05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Load 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Read brand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Draft schema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Map claims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Score quality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Revise once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05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Each email has one CTA, accessible structure, supported claims and a passed brand/compliance scorecard.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06 · Package a Reusable Email Campaign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Convert the proven drafting and QA workflow into a reusable Claude Skill with trigger and near-miss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SKILL.md, templates, test cases and sample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labs/lab-06-custom-email-skill/</a:t>
            </a:r>
          </a:p>
        </p:txBody>
      </p:sp>
    </p:spTree>
  </p:cSld>
  <p:transition spd="med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06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Define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Specify inputs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Write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Attach rubric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Run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Refine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06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The Skill activates only for intended campaign tasks and produces a schema-valid, brand-scored draft.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3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3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Cambria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mbria"/>
              </a:rPr>
              <a:t>Email Marketing Automation with Claude Cowork and MCP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Design a controlled automation that uses Cowork, Skills and connectors while preserving permissions, approval, idempotency and evidence.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7D7B"/>
                </a:solidFill>
                <a:latin typeface="Cambria"/>
              </a:rPr>
              <a:t>Every campaign action remains grounded, reviewable and measurable.</a:t>
            </a:r>
          </a:p>
        </p:txBody>
      </p:sp>
    </p:spTree>
  </p:cSld>
  <p:transition spd="med">
    <p:push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Automation suitability: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Find repetition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Stabilise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Bound consequence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rule_clarity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rare, ambiguous or high-consequence task is automated end to end.</a:t>
            </a:r>
          </a:p>
        </p:txBody>
      </p:sp>
    </p:spTree>
  </p:cSld>
  <p:transition spd="med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Automation suitability: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Automate stable work; retain human ownership of material release decisions.</a:t>
            </a:r>
          </a:p>
        </p:txBody>
      </p:sp>
    </p:spTree>
  </p:cSld>
  <p:transition spd="med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Automation suitability: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Time saved at equal or better quality and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Suitability score and automation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Trigger-condition-action model: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Receive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Evaluate condition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Perform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Record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vague trigger fires repeatedly or for the wrong cohort.</a:t>
            </a:r>
          </a:p>
        </p:txBody>
      </p:sp>
    </p:spTree>
  </p:cSld>
  <p:transition spd="med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Trigger-condition-action model: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typed inputs, explicit conditions and deterministic terminal states.</a:t>
            </a:r>
          </a:p>
        </p:txBody>
      </p:sp>
    </p:spTree>
  </p:cSld>
  <p:transition spd="med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Trigger-condition-action model: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events producing exactly one valid transition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Workflow graph and event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Cowork projects and instructions: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Select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Load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Apply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Create artifact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folder_context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artifact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Global and folder rules conflict or stale instructions persist.</a:t>
            </a:r>
          </a:p>
        </p:txBody>
      </p:sp>
    </p:spTree>
  </p:cSld>
  <p:transition spd="med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Cowork projects and instructions: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Keep global preferences separate from campaign-specific folder instructions.</a:t>
            </a:r>
          </a:p>
        </p:txBody>
      </p:sp>
    </p:spTree>
  </p:cSld>
  <p:transition spd="med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Cowork projects and instructions: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sessions using the current approved brand and campaign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Instruction hierarchy and version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Connectors and MCP boundaries: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Authorize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Expose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Call operation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Inspect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tool_schema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connector grants broad write access or returns untrusted content that steers the task.</a:t>
            </a:r>
          </a:p>
        </p:txBody>
      </p:sp>
    </p:spTree>
  </p:cSld>
  <p:transition spd="med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Connectors and MCP boundaries: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Prefer precise connectors, narrow scopes and schema validation.</a:t>
            </a:r>
          </a:p>
        </p:txBody>
      </p:sp>
    </p:spTree>
  </p:cSld>
  <p:transition spd="med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Connectors and MCP boundaries: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calls using least privilege and validated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Permission inventory and tool-call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Prompt injection and untrusted content: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Read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Classify trust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Ignore embedded 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Escalate anomaly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content_source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trust_level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instruction_origin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An inbound email contains hidden text that asks the agent to export data or send mail.</a:t>
            </a:r>
          </a:p>
        </p:txBody>
      </p:sp>
    </p:spTree>
  </p:cSld>
  <p:transition spd="med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Prompt injection and untrusted content: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Treat external content as data, never authority; stop on unexpected requests.</a:t>
            </a:r>
          </a:p>
        </p:txBody>
      </p:sp>
    </p:spTree>
  </p:cSld>
  <p:transition spd="med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Prompt injection and untrusted content: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untrusted instructions blocked before tool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Injection test and blocked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Human approval before send: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APPROVAL-BOUND RELEASE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FREEZE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Bind content and cohort IDs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A7D7B"/>
                </a:solidFill>
                <a:latin typeface="Calibri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Show evidence to a human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A7D7B"/>
                </a:solidFill>
                <a:latin typeface="Calibri"/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Verify hash and expiry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8A2E"/>
                </a:solidFill>
                <a:latin typeface="Calibri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Schedule once and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pproval-analytics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6B6862"/>
                </a:solidFill>
                <a:latin typeface="Calibri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Human approval before send: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Bind approval to a content hash, cohort ID and expiry time.</a:t>
            </a:r>
          </a:p>
        </p:txBody>
      </p:sp>
    </p:spTree>
  </p:cSld>
  <p:transition spd="med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Human approval before send: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sends matching the approved payload and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Approval receipt and matching send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Idempotency, retries and suppression: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Create run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Attempt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Classify 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Retry or 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run_key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attempt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error_class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terminal_state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timeout is retried without knowing whether the email was already scheduled.</a:t>
            </a:r>
          </a:p>
        </p:txBody>
      </p:sp>
    </p:spTree>
  </p:cSld>
  <p:transition spd="med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Idempotency, retries and suppression: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idempotency keys and reconcile remote state before retry.</a:t>
            </a:r>
          </a:p>
        </p:txBody>
      </p:sp>
    </p:spTree>
  </p:cSld>
  <p:transition spd="med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Idempotency, retries and suppression: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Duplicate-send rate and recovery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Run ledger with one terminal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Scheduled task operations: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Define routine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Set cadence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Choose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Review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approval_mode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run_history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recurring task depends on unavailable local files or silently drifts from current policy.</a:t>
            </a:r>
          </a:p>
        </p:txBody>
      </p:sp>
    </p:spTree>
  </p:cSld>
  <p:transition spd="med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Scheduled task operations: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saved cloud files/connectors for remote runs and review history regularly.</a:t>
            </a:r>
          </a:p>
        </p:txBody>
      </p:sp>
    </p:spTree>
  </p:cSld>
  <p:transition spd="med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Scheduled task operations: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scheduled runs reviewed with exceptions resolved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Schedule definition and exception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Automation boundary: Cowork, connector and human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D97757"/>
                </a:solidFill>
                <a:latin typeface="Cambria"/>
              </a:rPr>
              <a:t>COWORK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Coordinate the
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A7D7B"/>
                </a:solidFill>
                <a:latin typeface="Cambria"/>
              </a:rPr>
              <a:t>CONNECTOR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Perform a typed
scoped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88A2E"/>
                </a:solidFill>
                <a:latin typeface="Cambria"/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Approve payload
and consequence</a:t>
            </a:r>
          </a:p>
        </p:txBody>
      </p:sp>
    </p:spTree>
  </p:cSld>
  <p:transition spd="med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Workflow state: READY, RUNNING, BLOCKED and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READY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RUNNING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B5483A"/>
                </a:solidFill>
                <a:latin typeface="Cambria"/>
              </a:rPr>
              <a:t>BLOCKED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Completion requires a matching payload, terminal state and retrievable run record.</a:t>
            </a:r>
          </a:p>
        </p:txBody>
      </p:sp>
    </p:spTree>
  </p:cSld>
  <p:transition spd="med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Release evidence chain: draft → hash → approval →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draft_id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content 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content_hash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frozen payload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approval_id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release authority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run_id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terminal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 release is trustworthy when the scheduled payload matches the approved payload.</a:t>
            </a:r>
          </a:p>
        </p:txBody>
      </p:sp>
    </p:spTree>
  </p:cSld>
  <p:transition spd="med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Control taxonomy: permission, injection, retry and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B5483A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PERMISSION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reduce connector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3A7D7B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INJECTION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treat external commands as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88A2E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RETRY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reconcile before repeating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DRIFT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review instructions and schedules</a:t>
            </a:r>
          </a:p>
        </p:txBody>
      </p:sp>
    </p:spTree>
  </p:cSld>
  <p:transition spd="med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Control coverage rises across the release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Approval must bind to the exact content and cohort being released.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Idempotency reduces duplicate-action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Reconcile platform state before repeating an uncertain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Connector breadth increases review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More consequential connector actions require stronger human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07 · Design a Safe Cowork Connector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Map a draft-to-platform workflow with least privilege, untrusted-input handling and explicit tool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Connector map, permission register and injection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labs/lab-07-connector-risk-design/</a:t>
            </a:r>
          </a:p>
        </p:txBody>
      </p:sp>
    </p:spTree>
  </p:cSld>
  <p:transition spd="med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07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Name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Select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Limit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Classify trust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Test injection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Approve design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07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No live send occurs; scopes are minimal; embedded instructions are blocked and surfaced for human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08 · Control an Approved Scheduled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Create a dry-run automation contract that binds human approval to a frozen content and audience payload.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Workflow YAML, content hash, approval receipt and run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labs/lab-08-approval-scheduled-campaign/</a:t>
            </a:r>
          </a:p>
        </p:txBody>
      </p:sp>
    </p:spTree>
  </p:cSld>
  <p:transition spd="med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08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Build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Freeze payload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Request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Verify hash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Dry-run schedule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Log outcome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08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Exactly one dry-run schedule is recorded for the approved payload; rejection, expiry and retry cases stop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4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4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57"/>
                </a:solidFill>
                <a:latin typeface="Cambria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mbria"/>
              </a:rPr>
              <a:t>Campaign Analytics, A/B Testing and Performance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Read campaign reports critically, run valid experiments and recommend improvements that connect engagement, conversion, deliverability and business value.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7D7B"/>
                </a:solidFill>
                <a:latin typeface="Cambria"/>
              </a:rPr>
              <a:t>Every campaign action remains grounded, reviewable and measurable.</a:t>
            </a:r>
          </a:p>
        </p:txBody>
      </p:sp>
    </p:spTree>
  </p:cSld>
  <p:transition spd="med">
    <p:push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metric system: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Count sends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Measure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Measure engagement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Measure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delivered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clicks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conversions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One vanity metric is used without denominator, time window or counter-metric.</a:t>
            </a:r>
          </a:p>
        </p:txBody>
      </p:sp>
    </p:spTree>
  </p:cSld>
  <p:transition spd="med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metric system: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Define every metric with numerator, denominator, window and decision use.</a:t>
            </a:r>
          </a:p>
        </p:txBody>
      </p:sp>
    </p:spTree>
  </p:cSld>
  <p:transition spd="med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01 · Email metric system: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Delivery, click, conversion, unsubscribe and value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Metric dictionary and reconciled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Measurement reliability: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Inspect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Find bias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Triangulate signal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Set confidence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privacy_effect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secondary_signal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Machine-generated opens are treated as certain human attention.</a:t>
            </a:r>
          </a:p>
        </p:txBody>
      </p:sp>
    </p:spTree>
  </p:cSld>
  <p:transition spd="med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Measurement reliability: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Use clicks, conversions and longitudinal evidence to qualify open signals.</a:t>
            </a:r>
          </a:p>
        </p:txBody>
      </p:sp>
    </p:spTree>
  </p:cSld>
  <p:transition spd="med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02 · Measurement reliability: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Decision confidence after tracking limitations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Reliability note beside each KPI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Funnel and cohort diagnosis: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MEASUREMENT-TO-ACTION LOOP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Reconcile delivered outcomes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3A7D7B"/>
                </a:solidFill>
                <a:latin typeface="Calibri"/>
              </a:rPr>
              <a:t>COHORT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Locate a stable difference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Separate cause from signal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8A2E"/>
                </a:solidFill>
                <a:latin typeface="Calibri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21201C"/>
                </a:solidFill>
                <a:latin typeface="Calibri"/>
              </a:rPr>
              <a:t>Prioritise the next experiment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pproval-analytics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6B6862"/>
                </a:solidFill>
                <a:latin typeface="Calibri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Funnel and cohort diagnosis: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Compare stable cohorts before recommending a causal change.</a:t>
            </a:r>
          </a:p>
        </p:txBody>
      </p:sp>
    </p:spTree>
  </p:cSld>
  <p:transition spd="med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03 · Funnel and cohort diagnosis: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Largest meaningful loss with reproducible cohort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Funnel chart and segment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A/B test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Write hypothesis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Change one variable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Randomise audience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Choose winner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hypothesis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variable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allocation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decision_rule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Multiple variables or early peeking create an uninterpretable winner.</a:t>
            </a:r>
          </a:p>
        </p:txBody>
      </p:sp>
    </p:spTree>
  </p:cSld>
  <p:transition spd="med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A/B test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Freeze the audience, metric, duration and stopping rule before launch.</a:t>
            </a:r>
          </a:p>
        </p:txBody>
      </p:sp>
    </p:spTree>
  </p:cSld>
  <p:transition spd="med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04 · A/B test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Pre-declared effect and decision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Experiment contract and allocation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Interpreting experiment results: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Check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Estimate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Inspect uncertainty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Decide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lift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interval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A small noisy difference is presented as a proven improvement.</a:t>
            </a:r>
          </a:p>
        </p:txBody>
      </p:sp>
    </p:spTree>
  </p:cSld>
  <p:transition spd="med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Interpreting experiment results: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Report magnitude, uncertainty, limitations and next action.</a:t>
            </a:r>
          </a:p>
        </p:txBody>
      </p:sp>
    </p:spTree>
  </p:cSld>
  <p:transition spd="med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05 · Interpreting experiment results: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Practical lift with uncertainty and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Results card with continue/stop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Deliverability optimisation: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Audit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Clean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Improve relevance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Monitor complaints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source_quality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bounce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complaints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More volume is used to compensate for a deteriorating sender reputation.</a:t>
            </a:r>
          </a:p>
        </p:txBody>
      </p:sp>
    </p:spTree>
  </p:cSld>
  <p:transition spd="med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Deliverability optimisation: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Fix permission, list health and content relevance before scaling.</a:t>
            </a:r>
          </a:p>
        </p:txBody>
      </p:sp>
    </p:spTree>
  </p:cSld>
  <p:transition spd="med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06 · Deliverability optimisation: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Sustained delivery and complaint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Deliverability trend and remediation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Cowork analytics brief: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Load exports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Validate schema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Calculate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Write recommendation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calculations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recommendation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Claude invents denominators or mixes campaign time windows.</a:t>
            </a:r>
          </a:p>
        </p:txBody>
      </p:sp>
    </p:spTree>
  </p:cSld>
  <p:transition spd="med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Cowork analytics brief: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Require formula-level calculation evidence and explicit missing fields.</a:t>
            </a:r>
          </a:p>
        </p:txBody>
      </p:sp>
    </p:spTree>
  </p:cSld>
  <p:transition spd="med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07 · Cowork analytics brief: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reported values reproducible from supplied exports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Analysis workbook, chart and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Optimisation backlog: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Prioritise finding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Design treatment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Assign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Review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experiment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review_date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5483A"/>
                </a:solidFill>
                <a:latin typeface="Calibri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1201C"/>
                </a:solidFill>
                <a:latin typeface="Calibri"/>
              </a:rPr>
              <a:t>Generic advice accumulates without ownership or follow-up.</a:t>
            </a:r>
          </a:p>
        </p:txBody>
      </p:sp>
    </p:spTree>
  </p:cSld>
  <p:transition spd="med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Optimisation backlog: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97757"/>
                </a:solidFill>
                <a:latin typeface="Calibri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Rank by impact, confidence, effort and risk; close the learning loop.</a:t>
            </a:r>
          </a:p>
        </p:txBody>
      </p:sp>
    </p:spTree>
  </p:cSld>
  <p:transition spd="med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08 · Optimisation backlog: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199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1201C"/>
                </a:solidFill>
                <a:latin typeface="Cambria"/>
              </a:rPr>
              <a:t>% recommendations converted into measured experiments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Prioritised backlog and decision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D97757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C88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Campaign principle: source, audience, approved payload and outcome travel together—not as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Analytics boundary: tracking, calculation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D97757"/>
                </a:solidFill>
                <a:latin typeface="Cambria"/>
              </a:rPr>
              <a:t>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Produce campaign
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A7D7B"/>
                </a:solidFill>
                <a:latin typeface="Cambria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Reconcile metrics
and uncertainty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C88A2E"/>
                </a:solidFill>
                <a:latin typeface="Cambria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1201C"/>
                </a:solidFill>
                <a:latin typeface="Cambria"/>
              </a:rPr>
              <a:t>Prioritise the
next experiment</a:t>
            </a:r>
          </a:p>
        </p:txBody>
      </p:sp>
    </p:spTree>
  </p:cSld>
  <p:transition spd="med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Optimisation state: OBSERVE, DIAGNOSE, TEST and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OBSERVE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7757"/>
                </a:solidFill>
                <a:latin typeface="Cambria"/>
              </a:rPr>
              <a:t>DIAGNOSE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88A2E"/>
                </a:solidFill>
                <a:latin typeface="Cambria"/>
              </a:rPr>
              <a:t>TEST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3A7D7B"/>
                </a:solidFill>
                <a:latin typeface="Cambria"/>
              </a:rP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Learning closes only when evidence changes a prioritised action or experiment.</a:t>
            </a:r>
          </a:p>
        </p:txBody>
      </p:sp>
    </p:spTree>
  </p:cSld>
  <p:transition spd="med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Metric evidence chain: export → formula → chart →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export_id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source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formula_id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metric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finding_id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supported insight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21201C"/>
                </a:solidFill>
                <a:latin typeface="Cambria"/>
              </a:rPr>
              <a:t>test_id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next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21201C"/>
                </a:solidFill>
                <a:latin typeface="Cambria"/>
              </a:rPr>
              <a:t>A recommendation is defensible when every value resolves to an export and formula.</a:t>
            </a:r>
          </a:p>
        </p:txBody>
      </p:sp>
    </p:spTree>
  </p:cSld>
  <p:transition spd="med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Insight taxonomy: signal, bias, uncertainty and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SIGNAL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state the observed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3A7D7B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BIAS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qualify tracking limitations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88A2E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UNCERTAINTY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report magnitude and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B5483A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CONSEQUENCE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B548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assign the next decision</a:t>
            </a:r>
          </a:p>
        </p:txBody>
      </p:sp>
    </p:spTree>
  </p:cSld>
  <p:transition spd="med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Campaign funnel exposes the largest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A funnel turns headline engagement into a sequence of measurable losses.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Evidence quality improves with metric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A number becomes decision evidence only when its definition is explicit.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Optimisation priority balances impact and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The best next test balances impact, confidence, effort and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6862"/>
                </a:solidFill>
                <a:latin typeface="Calibri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09 · Analyse Campaign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Calculate and visualise delivery, engagement, conversion and unsubscribe metrics from mock exports.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Reconciled metric table, funnel chart and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labs/lab-09-campaign-analytics/</a:t>
            </a:r>
          </a:p>
        </p:txBody>
      </p:sp>
    </p:spTree>
  </p:cSld>
  <p:transition spd="med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09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Load exports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Validate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Reconcile totals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Calculate KPIs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Compare cohorts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Write finding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09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All values reproduce from source rows and the finding distinguishes observation from causal hypothesis.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10 · Evaluate an A/B Test and Prioritise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1201C"/>
                </a:solidFill>
                <a:latin typeface="Cambria"/>
              </a:rPr>
              <a:t>Interpret a simulated subject-line test and translate evidence into a governed optimisation backlog.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Experiment result card, decision and prioritised backlog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1201C"/>
                </a:solidFill>
                <a:latin typeface="Cambria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21201C"/>
                </a:solidFill>
                <a:latin typeface="Calibri"/>
              </a:rPr>
              <a:t>Self-contained folder: labs/lab-10-ab-test-optimisation/</a:t>
            </a:r>
          </a:p>
        </p:txBody>
      </p:sp>
    </p:spTree>
  </p:cSld>
  <p:transition spd="med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10 · Cowork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Read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Check balance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Compute lift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Assess uncertainty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Choose 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1201C"/>
                </a:solidFill>
                <a:latin typeface="Calibri"/>
              </a:rPr>
              <a:t>Plan next 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88A2E"/>
                </a:solidFill>
                <a:latin typeface="Calibri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1201C"/>
                </a:solidFill>
                <a:latin typeface="Cambria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Lab 10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57"/>
                </a:solidFill>
                <a:latin typeface="Calibri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The decision uses the frozen metric and guardrails, reports uncertainty and names an owner and review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B5483A"/>
                </a:solidFill>
                <a:latin typeface="Calibri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1201C"/>
                </a:solidFill>
                <a:latin typeface="Cambria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starter/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safe project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solution/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reference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6862"/>
                </a:solidFill>
                <a:latin typeface="Calibri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5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Topic 5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1201C"/>
                </a:solidFill>
                <a:latin typeface="Cambria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END-TO-END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07592"/>
            <a:ext cx="1080820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408176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08176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38074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libri"/>
              </a:rPr>
              <a:t>LO1 Propose email marketing strategies to address intended objectives and target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9424"/>
            <a:ext cx="10808208" cy="69494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350008"/>
            <a:ext cx="475488" cy="4754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35000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322576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libri"/>
              </a:rPr>
              <a:t>LO2 Manage newsletter audiences for a particular market segment.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91256"/>
            <a:ext cx="10808208" cy="694944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291840"/>
            <a:ext cx="475488" cy="4754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9184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264408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libri"/>
              </a:rPr>
              <a:t>LO3 Develop effective email campaigns to meet an email campaign objective.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33087"/>
            <a:ext cx="10808208" cy="694944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33672"/>
            <a:ext cx="475488" cy="475488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3367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206240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libri"/>
              </a:rPr>
              <a:t>LO4 Automate marketing processes to improve efficiency.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08208" cy="694944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175504"/>
            <a:ext cx="475488" cy="475488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17550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5148072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libri"/>
              </a:rPr>
              <a:t>LO5 Evaluate campaign effectiveness using analytics reports.</a:t>
            </a:r>
          </a:p>
        </p:txBody>
      </p:sp>
    </p:spTree>
  </p:cSld>
  <p:transition spd="med">
    <p:fade/>
  </p:transition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Access the 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Use the LMS for attendance evidence, learner resources and assessment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Open 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Use your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Confirm the course title and code before submitting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Ask the trainer if access is blocked</a:t>
            </a:r>
          </a:p>
        </p:txBody>
      </p:sp>
    </p:spTree>
  </p:cSld>
  <p:transition spd="med">
    <p:fade/>
  </p:transition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Cowork controls that must remain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Automation is complete only when governance travels with the campaign.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Every draft resolves to an approved source and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Every audience resolves to consent and suppression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Every send has a named human approver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Every optimisation resolves to reproducible evidence</a:t>
            </a:r>
          </a:p>
        </p:txBody>
      </p:sp>
    </p:spTree>
  </p:cSld>
  <p:transition spd="med">
    <p:fade/>
  </p:transition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References and currency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The original deck supplies the approved scope; two ebooks and current official documentation deepen the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Original v13 Mailchimp trainer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Email Marketing &amp; AI — Koso Brown (2024)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Mastering Claude Code and Cowork — Elliott Middleton (2026)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Current Claude Cowork Help Center and live course page</a:t>
            </a:r>
          </a:p>
        </p:txBody>
      </p:sp>
    </p:spTree>
  </p:cSld>
  <p:transition spd="med">
    <p:fade/>
  </p:transition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Assessment reminder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219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Demonstrate understanding and an evidence-backed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Written Assessment (SAQ): 6 questions / 40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Practical Performance: 5 tasks / 90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Use only the supplied synthetic campaign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Submit through the instructed LMS route</a:t>
            </a:r>
          </a:p>
        </p:txBody>
      </p:sp>
    </p:spTree>
  </p:cSld>
  <p:transition spd="med">
    <p:fade/>
  </p:transition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EVIDENCE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971800"/>
            <a:ext cx="36576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2971800"/>
            <a:ext cx="36576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0" y="2971800"/>
            <a:ext cx="365760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81159" y="2971800"/>
            <a:ext cx="365761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1993392"/>
            <a:ext cx="195681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22128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21284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16824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D97757"/>
                </a:solidFill>
                <a:latin typeface="Calibri"/>
              </a:rPr>
              <a:t>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36976"/>
            <a:ext cx="168249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01C"/>
                </a:solidFill>
                <a:latin typeface="Calibri"/>
              </a:rPr>
              <a:t>Identity and
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993392"/>
            <a:ext cx="195681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7288" y="221284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21284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907792"/>
            <a:ext cx="16824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A7D7B"/>
                </a:solidFill>
                <a:latin typeface="Calibri"/>
              </a:rPr>
              <a:t>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236976"/>
            <a:ext cx="168249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01C"/>
                </a:solidFill>
                <a:latin typeface="Calibri"/>
              </a:rPr>
              <a:t>6 questions
K1–K6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993392"/>
            <a:ext cx="195681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79008" y="2212848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79008" y="221284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907792"/>
            <a:ext cx="16824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C88A2E"/>
                </a:solidFill>
                <a:latin typeface="Calibri"/>
              </a:rPr>
              <a:t>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236976"/>
            <a:ext cx="168249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01C"/>
                </a:solidFill>
                <a:latin typeface="Calibri"/>
              </a:rPr>
              <a:t>5 tasks
A1–A8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993392"/>
            <a:ext cx="195681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0727" y="221284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21284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907792"/>
            <a:ext cx="16824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A7D7B"/>
                </a:solidFill>
                <a:latin typeface="Calibri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236976"/>
            <a:ext cx="168249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01C"/>
                </a:solidFill>
                <a:latin typeface="Calibri"/>
              </a:rPr>
              <a:t>Assessor checks
all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1993392"/>
            <a:ext cx="195681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2448" y="2212848"/>
            <a:ext cx="548640" cy="548640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221284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907792"/>
            <a:ext cx="16824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1201C"/>
                </a:solidFill>
                <a:latin typeface="Calibri"/>
              </a:rPr>
              <a:t>SIGN-OFF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236976"/>
            <a:ext cx="168249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1201C"/>
                </a:solidFill>
                <a:latin typeface="Calibri"/>
              </a:rPr>
              <a:t>C / NYC and
follow-up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15568" y="4617720"/>
            <a:ext cx="9948672" cy="749808"/>
          </a:xfrm>
          <a:prstGeom prst="roundRect">
            <a:avLst/>
          </a:prstGeom>
          <a:solidFill>
            <a:srgbClr val="FBE9E4"/>
          </a:solidFill>
          <a:ln w="12700"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846320"/>
            <a:ext cx="9436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1201C"/>
                </a:solidFill>
                <a:latin typeface="Cambria"/>
              </a:rPr>
              <a:t>Answer keys remain trainer-only. Candidate papers use synthetic data and never require a live send.</a:t>
            </a:r>
          </a:p>
        </p:txBody>
      </p:sp>
    </p:spTree>
  </p:cSld>
  <p:transition spd="med">
    <p:fade/>
  </p:transition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D97757"/>
                </a:solidFill>
                <a:latin typeface="Calibri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1201C"/>
                </a:solidFill>
                <a:latin typeface="Calibri"/>
              </a:rPr>
              <a:t>Digital attendance is mandatory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Claude Cowork for Email Marketing  •  TGS-2020503109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Pte. Ltd.  |  Slide 221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21201C"/>
                </a:solidFill>
                <a:latin typeface="Cambria"/>
              </a:rPr>
              <a:t>Attendance evidence is part of the course administration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Check in at the instructed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Use the correct learner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Complete both attendance events each training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AF2E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21201C"/>
                </a:solidFill>
                <a:latin typeface="Calibri"/>
              </a:rPr>
              <a:t>Notify the trainer immediately if the form fails</a:t>
            </a:r>
          </a:p>
        </p:txBody>
      </p:sp>
    </p:spTree>
  </p:cSld>
  <p:transition spd="med">
    <p:fade/>
  </p:transition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Cambria"/>
              </a:rPr>
              <a:t>Build email campaigns that earn trust and prove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3A7D7B"/>
                </a:solidFill>
                <a:latin typeface="Cambria"/>
              </a:rPr>
              <a:t>Grounded content  •  Permission-aware audiences  •  Human-approved release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2928" y="4160520"/>
            <a:ext cx="457200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10912" y="4160520"/>
            <a:ext cx="457200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4160520"/>
            <a:ext cx="457200" cy="0"/>
          </a:xfrm>
          <a:prstGeom prst="line">
            <a:avLst/>
          </a:prstGeom>
          <a:ln w="27940">
            <a:solidFill>
              <a:srgbClr val="3A7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81328" y="3493008"/>
            <a:ext cx="1335024" cy="13350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3493008"/>
            <a:ext cx="1335024" cy="1335024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4" name="Oval 13"/>
          <p:cNvSpPr/>
          <p:nvPr/>
        </p:nvSpPr>
        <p:spPr>
          <a:xfrm>
            <a:off x="5797296" y="3493008"/>
            <a:ext cx="1335024" cy="1335024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493008"/>
            <a:ext cx="1335024" cy="1335024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13832"/>
            <a:ext cx="9738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Trainer  |  Tertiary Infotech Academy Pte. Ltd.
TGS-2020503109  •  v14.0  •  10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Cowork for Email Marketing</dc:title>
  <dc:subject>TGS-2020503109 • ICT-SNM-3006-1.1 Integrated Marketing</dc:subject>
  <dc:creator>Tertiary Infotech Academy Pte. Ltd.</dc:creator>
  <cp:keywords/>
  <dc:description>Highly visual mechanism-led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